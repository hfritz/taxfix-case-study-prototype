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4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60105" y="2673705"/>
            <a:ext cx="592531" cy="592531"/>
          </a:xfrm>
          <a:prstGeom prst="ellipse">
            <a:avLst/>
          </a:prstGeom>
          <a:solidFill>
            <a:srgbClr val="36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9200000">
            <a:off x="8851392" y="3364992"/>
            <a:ext cx="1645920" cy="395020"/>
          </a:xfrm>
          <a:prstGeom prst="roundRect">
            <a:avLst>
              <a:gd name="adj" fmla="val 50000"/>
            </a:avLst>
          </a:prstGeom>
          <a:solidFill>
            <a:srgbClr val="36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66883" y="4780483"/>
            <a:ext cx="592531" cy="592531"/>
          </a:xfrm>
          <a:prstGeom prst="ellipse">
            <a:avLst/>
          </a:prstGeom>
          <a:solidFill>
            <a:srgbClr val="36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EF5A4"/>
                </a:solidFill>
                <a:latin typeface="Archivo Black"/>
              </a:rPr>
              <a:t>AI PM BUILDER (ASSISTED) —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74980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FFFFFF"/>
                </a:solidFill>
                <a:latin typeface="Archivo Black"/>
              </a:rPr>
              <a:t>A premium Expert Service for the freelancers Taxfix says no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760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DF8F2"/>
                </a:solidFill>
                <a:latin typeface="Archivo"/>
              </a:rPr>
              <a:t>How I approached the segment, the price, the build, and the AI workflow behind all three.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ADE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54618"/>
                </a:solidFill>
                <a:latin typeface="Archivo Black"/>
              </a:rPr>
              <a:t>·/·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477316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8D3C9"/>
                </a:solidFill>
                <a:latin typeface="Archivo"/>
              </a:rPr>
              <a:t>Helmut Fritz · 2026 · Unofficial prototype, not affiliated with or endorsed by Taxfix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F8F2"/>
                </a:solidFill>
                <a:latin typeface="Archivo Black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6893B"/>
                </a:solidFill>
                <a:latin typeface="Archivo Black"/>
              </a:rPr>
              <a:t>01 · THE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54618"/>
                </a:solidFill>
                <a:latin typeface="Archivo Black"/>
              </a:rPr>
              <a:t>Not “self-employed.” This exact intersection.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E4A30"/>
                </a:solidFill>
                <a:latin typeface="Archivo"/>
              </a:rPr>
              <a:t>Lena: a regelbesteuerte freelancer past the Kleinunternehmer line, with a client or income stream outside Germany. Either trait alone is already served today. Both at once is where Taxfix’s product stops and a slow, expensive Steuerberater takes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02336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0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rIns="182880" wrap="square"/>
          <a:lstStyle/>
          <a:p>
            <a:pPr algn="ctr"/>
            <a:r>
              <a:rPr sz="1400">
                <a:solidFill>
                  <a:srgbClr val="154618"/>
                </a:solidFill>
                <a:latin typeface="Archivo Black"/>
              </a:rPr>
              <a:t>Self-employed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E4A30"/>
                </a:solidFill>
                <a:latin typeface="Archivo"/>
              </a:rPr>
              <a:t>Past the Kleinunternehmer line — regelbesteuert, not the small-business exemption.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434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36893B"/>
                </a:solidFill>
                <a:latin typeface="Archivo Black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02336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0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rIns="182880" wrap="square"/>
          <a:lstStyle/>
          <a:p>
            <a:pPr algn="ctr"/>
            <a:r>
              <a:rPr sz="1400">
                <a:solidFill>
                  <a:srgbClr val="154618"/>
                </a:solidFill>
                <a:latin typeface="Archivo Black"/>
              </a:rPr>
              <a:t>Cross-border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E4A30"/>
                </a:solidFill>
                <a:latin typeface="Archivo"/>
              </a:rPr>
              <a:t>A foreign client, foreign rental income, or a double-taxation-treaty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54618"/>
                </a:solidFill>
                <a:latin typeface="Archivo Black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0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6893B"/>
                </a:solidFill>
                <a:latin typeface="Archivo Black"/>
              </a:rPr>
              <a:t>02 ·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8686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154618"/>
                </a:solidFill>
                <a:latin typeface="Archivo Black"/>
              </a:rPr>
              <a:t>Three weaknesses. Two are direct quotes, one is a judgment call.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514600"/>
            <a:ext cx="9601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A9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7157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DE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154618"/>
                </a:solidFill>
                <a:latin typeface="Archivo Black"/>
              </a:rPr>
              <a:t>QUOTE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679192"/>
            <a:ext cx="7772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54618"/>
                </a:solidFill>
                <a:latin typeface="Archivo"/>
              </a:rPr>
              <a:t>“Gewerbetreibende mit Regelversteuerung” — named on Taxfix’s own Experten-Service page as not supported.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49040"/>
            <a:ext cx="9601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A9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95020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DE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154618"/>
                </a:solidFill>
                <a:latin typeface="Archivo Black"/>
              </a:rPr>
              <a:t>QUOTE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913632"/>
            <a:ext cx="7772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54618"/>
                </a:solidFill>
                <a:latin typeface="Archivo"/>
              </a:rPr>
              <a:t>“Einige internationale Steuerfälle” and Auslandsvermietung — also named exclusions, not an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983480"/>
            <a:ext cx="9601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A9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51846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8A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2B1A00"/>
                </a:solidFill>
                <a:latin typeface="Archivo Black"/>
              </a:rPr>
              <a:t>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148072"/>
            <a:ext cx="7772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54618"/>
                </a:solidFill>
                <a:latin typeface="Archivo"/>
              </a:rPr>
              <a:t>One annual filing only, not her real quarterly cadence. My own scoping read, not a documented gap — flagged, and kept out of v1 on purpose.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54618"/>
                </a:solidFill>
                <a:latin typeface="Archivo Black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EE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3F6B26"/>
                </a:solidFill>
                <a:latin typeface="Archivo Black"/>
              </a:rPr>
              <a:t>03 · THE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1560"/>
            <a:ext cx="121916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0" b="0" i="0">
                <a:solidFill>
                  <a:srgbClr val="154618"/>
                </a:solidFill>
                <a:latin typeface="Archivo Black"/>
              </a:rPr>
              <a:t>€449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063240"/>
            <a:ext cx="8869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154618"/>
                </a:solidFill>
                <a:latin typeface="Archivo"/>
              </a:rPr>
              <a:t>Flat. 5 advisor hours included. A disclosed surcharge beyond that — never a surprise bill.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8107" y="3977639"/>
            <a:ext cx="3063240" cy="1417320"/>
          </a:xfrm>
          <a:prstGeom prst="roundRect">
            <a:avLst>
              <a:gd name="adj" fmla="val 6000"/>
            </a:avLst>
          </a:prstGeom>
          <a:solidFill>
            <a:srgbClr val="C3E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19275" y="4133087"/>
            <a:ext cx="26609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4618"/>
                </a:solidFill>
                <a:latin typeface="Archivo Black"/>
              </a:rPr>
              <a:t>Doing it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9275" y="4480560"/>
            <a:ext cx="2660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54618"/>
                </a:solidFill>
                <a:latin typeface="Archivo"/>
              </a:rPr>
              <a:t>6–10 hours of your own time — worth €480–800 at €80/hr, plus the risk of a mistake.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64227" y="3977639"/>
            <a:ext cx="3063240" cy="1417320"/>
          </a:xfrm>
          <a:prstGeom prst="roundRect">
            <a:avLst>
              <a:gd name="adj" fmla="val 6000"/>
            </a:avLst>
          </a:prstGeom>
          <a:solidFill>
            <a:srgbClr val="C3E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5395" y="4133087"/>
            <a:ext cx="26609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4618"/>
                </a:solidFill>
                <a:latin typeface="Archivo Black"/>
              </a:rPr>
              <a:t>A traditional Kanzlei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5395" y="4480560"/>
            <a:ext cx="2660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54618"/>
                </a:solidFill>
                <a:latin typeface="Archivo"/>
              </a:rPr>
              <a:t>€520–1,500+ for a complex case, billed hourly. You don’t know the total until it arrives.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0347" y="3977639"/>
            <a:ext cx="3063240" cy="1417320"/>
          </a:xfrm>
          <a:prstGeom prst="roundRect">
            <a:avLst>
              <a:gd name="adj" fmla="val 6000"/>
            </a:avLst>
          </a:prstGeom>
          <a:solidFill>
            <a:srgbClr val="154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1515" y="4133087"/>
            <a:ext cx="26609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FC7"/>
                </a:solidFill>
                <a:latin typeface="Archivo Black"/>
              </a:rPr>
              <a:t>This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1515" y="4480560"/>
            <a:ext cx="2660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CFFC7"/>
                </a:solidFill>
                <a:latin typeface="Archivo"/>
              </a:rPr>
              <a:t>€449, decided up front. Known before you start, not after.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F6B26"/>
                </a:solidFill>
                <a:latin typeface="Archivo Black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6893B"/>
                </a:solidFill>
                <a:latin typeface="Archivo Black"/>
              </a:rPr>
              <a:t>04 · WHAT'S IN, WHAT'S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8686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154618"/>
                </a:solidFill>
                <a:latin typeface="Archivo Black"/>
              </a:rPr>
              <a:t>A complexity-based tier, not a “more of everything”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6893B"/>
                </a:solidFill>
                <a:latin typeface="Archivo Black"/>
              </a:rPr>
              <a:t>INCLUDED</a:t>
            </a:r>
          </a:p>
        </p:txBody>
      </p:sp>
      <p:sp>
        <p:nvSpPr>
          <p:cNvPr id="5" name="Oval 4"/>
          <p:cNvSpPr/>
          <p:nvPr/>
        </p:nvSpPr>
        <p:spPr>
          <a:xfrm>
            <a:off x="699516" y="3022092"/>
            <a:ext cx="82296" cy="82296"/>
          </a:xfrm>
          <a:prstGeom prst="ellipse">
            <a:avLst/>
          </a:prstGeom>
          <a:solidFill>
            <a:srgbClr val="ADE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971800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54618"/>
                </a:solidFill>
                <a:latin typeface="Archivo"/>
              </a:rPr>
              <a:t>A licensed Steuerberater with real self-employed + cross-border experience — not the generalist pool.</a:t>
            </a:r>
          </a:p>
        </p:txBody>
      </p:sp>
      <p:sp>
        <p:nvSpPr>
          <p:cNvPr id="7" name="Oval 6"/>
          <p:cNvSpPr/>
          <p:nvPr/>
        </p:nvSpPr>
        <p:spPr>
          <a:xfrm>
            <a:off x="699516" y="3589020"/>
            <a:ext cx="82296" cy="82296"/>
          </a:xfrm>
          <a:prstGeom prst="ellipse">
            <a:avLst/>
          </a:prstGeom>
          <a:solidFill>
            <a:srgbClr val="ADE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38728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54618"/>
                </a:solidFill>
                <a:latin typeface="Archivo"/>
              </a:rPr>
              <a:t>A structured intake that sizes complexity before any work starts.</a:t>
            </a:r>
          </a:p>
        </p:txBody>
      </p:sp>
      <p:sp>
        <p:nvSpPr>
          <p:cNvPr id="9" name="Oval 8"/>
          <p:cNvSpPr/>
          <p:nvPr/>
        </p:nvSpPr>
        <p:spPr>
          <a:xfrm>
            <a:off x="699516" y="4155948"/>
            <a:ext cx="82296" cy="82296"/>
          </a:xfrm>
          <a:prstGeom prst="ellipse">
            <a:avLst/>
          </a:prstGeom>
          <a:solidFill>
            <a:srgbClr val="ADE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105656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54618"/>
                </a:solidFill>
                <a:latin typeface="Archivo"/>
              </a:rPr>
              <a:t>One round of advisor follow-up and review before submission.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560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7A7268"/>
                </a:solidFill>
                <a:latin typeface="Archivo Black"/>
              </a:rPr>
              <a:t>DELIBERATELY EXCLUDED</a:t>
            </a:r>
          </a:p>
        </p:txBody>
      </p:sp>
      <p:sp>
        <p:nvSpPr>
          <p:cNvPr id="12" name="Oval 11"/>
          <p:cNvSpPr/>
          <p:nvPr/>
        </p:nvSpPr>
        <p:spPr>
          <a:xfrm>
            <a:off x="5637276" y="3022092"/>
            <a:ext cx="82296" cy="82296"/>
          </a:xfrm>
          <a:prstGeom prst="ellipse">
            <a:avLst/>
          </a:prstGeom>
          <a:solidFill>
            <a:srgbClr val="9A9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8" y="2971800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459"/>
                </a:solidFill>
                <a:latin typeface="Archivo"/>
              </a:rPr>
              <a:t>Live or phone consultations — stays async to protect margin.</a:t>
            </a:r>
          </a:p>
        </p:txBody>
      </p:sp>
      <p:sp>
        <p:nvSpPr>
          <p:cNvPr id="14" name="Oval 13"/>
          <p:cNvSpPr/>
          <p:nvPr/>
        </p:nvSpPr>
        <p:spPr>
          <a:xfrm>
            <a:off x="5637276" y="3589020"/>
            <a:ext cx="82296" cy="82296"/>
          </a:xfrm>
          <a:prstGeom prst="ellipse">
            <a:avLst/>
          </a:prstGeom>
          <a:solidFill>
            <a:srgbClr val="9A9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3538728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459"/>
                </a:solidFill>
                <a:latin typeface="Archivo"/>
              </a:rPr>
              <a:t>Quarterly VAT and bookkeeping — a different, bigger product. A roadmap note, not v1.</a:t>
            </a:r>
          </a:p>
        </p:txBody>
      </p:sp>
      <p:sp>
        <p:nvSpPr>
          <p:cNvPr id="16" name="Oval 15"/>
          <p:cNvSpPr/>
          <p:nvPr/>
        </p:nvSpPr>
        <p:spPr>
          <a:xfrm>
            <a:off x="5637276" y="4155948"/>
            <a:ext cx="82296" cy="82296"/>
          </a:xfrm>
          <a:prstGeom prst="ellipse">
            <a:avLst/>
          </a:prstGeom>
          <a:solidFill>
            <a:srgbClr val="9A9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4105656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459"/>
                </a:solidFill>
                <a:latin typeface="Archivo"/>
              </a:rPr>
              <a:t>Multi-year retroactive filings.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257800"/>
            <a:ext cx="36576" cy="457200"/>
          </a:xfrm>
          <a:prstGeom prst="rect">
            <a:avLst/>
          </a:prstGeom>
          <a:solidFill>
            <a:srgbClr val="ADE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459"/>
                </a:solidFill>
                <a:latin typeface="Archivo"/>
              </a:rPr>
              <a:t>The lever is complexity, priced honestly — not a bigger flat tier.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54618"/>
                </a:solidFill>
                <a:latin typeface="Archivo Black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4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EF5A4"/>
                </a:solidFill>
                <a:latin typeface="Archivo Black"/>
              </a:rPr>
              <a:t>05 · THE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i="0">
                <a:solidFill>
                  <a:srgbClr val="FFFFFF"/>
                </a:solidFill>
                <a:latin typeface="Archivo Black"/>
              </a:rPr>
              <a:t>What €449 has to cover.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ECFFC7"/>
                </a:solidFill>
                <a:latin typeface="Archivo Black"/>
              </a:rPr>
              <a:t>€449  </a:t>
            </a:r>
            <a:r>
              <a:rPr sz="1800" b="0" i="0">
                <a:solidFill>
                  <a:srgbClr val="6E7E70"/>
                </a:solidFill>
                <a:latin typeface="Archivo Black"/>
              </a:rPr>
              <a:t>−  </a:t>
            </a:r>
            <a:r>
              <a:rPr sz="2200" b="0" i="0">
                <a:solidFill>
                  <a:srgbClr val="ECFFC7"/>
                </a:solidFill>
                <a:latin typeface="Archivo Black"/>
              </a:rPr>
              <a:t>€60/hr × 5hrs  </a:t>
            </a:r>
            <a:r>
              <a:rPr sz="1800" b="0" i="0">
                <a:solidFill>
                  <a:srgbClr val="6E7E70"/>
                </a:solidFill>
                <a:latin typeface="Archivo Black"/>
              </a:rPr>
              <a:t>−  </a:t>
            </a:r>
            <a:r>
              <a:rPr sz="2200" b="0" i="0">
                <a:solidFill>
                  <a:srgbClr val="ECFFC7"/>
                </a:solidFill>
                <a:latin typeface="Archivo Black"/>
              </a:rPr>
              <a:t>€20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8AFA0"/>
                </a:solidFill>
                <a:latin typeface="Archivo"/>
              </a:rPr>
              <a:t>price</a:t>
            </a:r>
            <a:r>
              <a:rPr sz="1000" b="0" i="0">
                <a:solidFill>
                  <a:srgbClr val="A8AFA0"/>
                </a:solidFill>
                <a:latin typeface="Archivo"/>
              </a:rPr>
              <a:t>                                    advisor cost</a:t>
            </a:r>
            <a:r>
              <a:rPr sz="1000" b="0" i="0">
                <a:solidFill>
                  <a:srgbClr val="A8AFA0"/>
                </a:solidFill>
                <a:latin typeface="Archivo"/>
              </a:rPr>
              <a:t>                    platform opex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0">
                <a:solidFill>
                  <a:srgbClr val="F8A21A"/>
                </a:solidFill>
                <a:latin typeface="Archivo Black"/>
              </a:rPr>
              <a:t>28.7%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342900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8DED2"/>
                </a:solidFill>
                <a:latin typeface="Archivo"/>
              </a:rPr>
              <a:t>gross margin at the base case — honest, and below the 40%+ bar this needs to reach once real hours-per-case data replaces the placeholder.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709160"/>
            <a:ext cx="10058400" cy="12700"/>
          </a:xfrm>
          <a:prstGeom prst="rect">
            <a:avLst/>
          </a:prstGeom>
          <a:solidFill>
            <a:srgbClr val="2E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92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FFFFFF"/>
                </a:solidFill>
                <a:latin typeface="Archivo"/>
              </a:rPr>
              <a:t>€349 only cleared 8.3% margin — too thin, so price moved to €449.  </a:t>
            </a:r>
            <a:r>
              <a:rPr sz="1300" b="0" i="0">
                <a:solidFill>
                  <a:srgbClr val="D8DED2"/>
                </a:solidFill>
                <a:latin typeface="Archivo"/>
              </a:rPr>
              <a:t>The real risk isn't the price: it's hours-per-case, still a placeholder. Sensitivity analysis shows it swings margin more than advisor rate and opex combined (~€300, vs. ~€250 and ~€20).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7E70"/>
                </a:solidFill>
                <a:latin typeface="Archivo Black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EE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F6B26"/>
                </a:solidFill>
                <a:latin typeface="Archivo Black"/>
              </a:rPr>
              <a:t>06 · THE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54618"/>
                </a:solidFill>
                <a:latin typeface="Archivo Black"/>
              </a:rPr>
              <a:t>Three live pages, not a deck about pages.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06040"/>
            <a:ext cx="8961120" cy="777240"/>
          </a:xfrm>
          <a:prstGeom prst="roundRect">
            <a:avLst>
              <a:gd name="adj" fmla="val 6000"/>
            </a:avLst>
          </a:prstGeom>
          <a:solidFill>
            <a:srgbClr val="C3E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1576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4618"/>
                </a:solidFill>
                <a:latin typeface="Archivo Blac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697480"/>
            <a:ext cx="7680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54618"/>
                </a:solidFill>
                <a:latin typeface="Archivo Black"/>
              </a:rPr>
              <a:t>Homepage clone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990088"/>
            <a:ext cx="7680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54618"/>
                </a:solidFill>
                <a:latin typeface="Archivo"/>
              </a:rPr>
              <a:t>Real taxfix.de HTML, with a genuine third pricing card added.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47872"/>
            <a:ext cx="8961120" cy="777240"/>
          </a:xfrm>
          <a:prstGeom prst="roundRect">
            <a:avLst>
              <a:gd name="adj" fmla="val 6000"/>
            </a:avLst>
          </a:prstGeom>
          <a:solidFill>
            <a:srgbClr val="C3E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4618"/>
                </a:solidFill>
                <a:latin typeface="Archivo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639312"/>
            <a:ext cx="7680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54618"/>
                </a:solidFill>
                <a:latin typeface="Archivo Black"/>
              </a:rPr>
              <a:t>Premium landing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931920"/>
            <a:ext cx="7680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54618"/>
                </a:solidFill>
                <a:latin typeface="Archivo"/>
              </a:rPr>
              <a:t>Positioning, price/package, and a real comparison table against the standard tier.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89704"/>
            <a:ext cx="8961120" cy="777240"/>
          </a:xfrm>
          <a:prstGeom prst="roundRect">
            <a:avLst>
              <a:gd name="adj" fmla="val 6000"/>
            </a:avLst>
          </a:prstGeom>
          <a:solidFill>
            <a:srgbClr val="C3E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99432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4618"/>
                </a:solidFill>
                <a:latin typeface="Archivo Blac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581144"/>
            <a:ext cx="7680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54618"/>
                </a:solidFill>
                <a:latin typeface="Archivo Black"/>
              </a:rPr>
              <a:t>This process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73752"/>
            <a:ext cx="7680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54618"/>
                </a:solidFill>
                <a:latin typeface="Archivo"/>
              </a:rPr>
              <a:t>Persona reasoning, a live pricing-logic slider, and the actual prompts used — not smoothed over.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22976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6B26"/>
                </a:solidFill>
                <a:latin typeface="Archivo"/>
              </a:rPr>
              <a:t>Built solo, end to end: research, the pricing model, brand extraction, specs, and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F6B26"/>
                </a:solidFill>
                <a:latin typeface="Archivo Black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4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58630" y="4678070"/>
            <a:ext cx="395020" cy="395020"/>
          </a:xfrm>
          <a:prstGeom prst="ellipse">
            <a:avLst/>
          </a:prstGeom>
          <a:solidFill>
            <a:srgbClr val="6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9200000">
            <a:off x="9619488" y="5138928"/>
            <a:ext cx="1097280" cy="263347"/>
          </a:xfrm>
          <a:prstGeom prst="roundRect">
            <a:avLst>
              <a:gd name="adj" fmla="val 50000"/>
            </a:avLst>
          </a:prstGeom>
          <a:solidFill>
            <a:srgbClr val="6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3148" y="6082588"/>
            <a:ext cx="395020" cy="395020"/>
          </a:xfrm>
          <a:prstGeom prst="ellipse">
            <a:avLst/>
          </a:prstGeom>
          <a:solidFill>
            <a:srgbClr val="6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8CFF"/>
                </a:solidFill>
                <a:latin typeface="Archivo Black"/>
              </a:rPr>
              <a:t>07 · THE AI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FFFFFF"/>
                </a:solidFill>
                <a:latin typeface="Archivo Black"/>
              </a:rPr>
              <a:t>Research, cross-checked. Not research, trusted.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D8DED2"/>
                </a:solidFill>
                <a:latin typeface="Archivo"/>
              </a:rPr>
              <a:t>Every model output in this deck was re-run somewhere else before being trusted.</a:t>
            </a:r>
          </a:p>
        </p:txBody>
      </p:sp>
      <p:sp>
        <p:nvSpPr>
          <p:cNvPr id="8" name="Oval 7"/>
          <p:cNvSpPr/>
          <p:nvPr/>
        </p:nvSpPr>
        <p:spPr>
          <a:xfrm>
            <a:off x="681228" y="3040380"/>
            <a:ext cx="64008" cy="64008"/>
          </a:xfrm>
          <a:prstGeom prst="ellipse">
            <a:avLst/>
          </a:prstGeom>
          <a:solidFill>
            <a:srgbClr val="6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Archivo"/>
              </a:rPr>
              <a:t>NotebookLM </a:t>
            </a:r>
            <a:r>
              <a:rPr sz="1250" b="0" i="0">
                <a:solidFill>
                  <a:srgbClr val="D8DED2"/>
                </a:solidFill>
                <a:latin typeface="Archivo"/>
              </a:rPr>
              <a:t>ran a 6-phase interview-coach prompt against the real case brief before any solution was proposed.</a:t>
            </a:r>
          </a:p>
        </p:txBody>
      </p:sp>
      <p:sp>
        <p:nvSpPr>
          <p:cNvPr id="10" name="Oval 9"/>
          <p:cNvSpPr/>
          <p:nvPr/>
        </p:nvSpPr>
        <p:spPr>
          <a:xfrm>
            <a:off x="681228" y="3497580"/>
            <a:ext cx="64008" cy="64008"/>
          </a:xfrm>
          <a:prstGeom prst="ellipse">
            <a:avLst/>
          </a:prstGeom>
          <a:solidFill>
            <a:srgbClr val="6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Archivo"/>
              </a:rPr>
              <a:t>The persona </a:t>
            </a:r>
            <a:r>
              <a:rPr sz="1250" b="0" i="0">
                <a:solidFill>
                  <a:srgbClr val="D8DED2"/>
                </a:solidFill>
                <a:latin typeface="Archivo"/>
              </a:rPr>
              <a:t>was defined once, then re-run independently in a second Claude session as a sanity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681228" y="3954780"/>
            <a:ext cx="64008" cy="64008"/>
          </a:xfrm>
          <a:prstGeom prst="ellipse">
            <a:avLst/>
          </a:prstGeom>
          <a:solidFill>
            <a:srgbClr val="6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Archivo"/>
              </a:rPr>
              <a:t>The price </a:t>
            </a:r>
            <a:r>
              <a:rPr sz="1250" b="0" i="0">
                <a:solidFill>
                  <a:srgbClr val="D8DED2"/>
                </a:solidFill>
                <a:latin typeface="Archivo"/>
              </a:rPr>
              <a:t>came from a Python sensitivity model, not a guess — and its first answer (€349) was corrected, not accepted.</a:t>
            </a:r>
          </a:p>
        </p:txBody>
      </p:sp>
      <p:sp>
        <p:nvSpPr>
          <p:cNvPr id="14" name="Oval 13"/>
          <p:cNvSpPr/>
          <p:nvPr/>
        </p:nvSpPr>
        <p:spPr>
          <a:xfrm>
            <a:off x="681228" y="4411980"/>
            <a:ext cx="64008" cy="64008"/>
          </a:xfrm>
          <a:prstGeom prst="ellipse">
            <a:avLst/>
          </a:prstGeom>
          <a:solidFill>
            <a:srgbClr val="6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Archivo"/>
              </a:rPr>
              <a:t>Claude Code </a:t>
            </a:r>
            <a:r>
              <a:rPr sz="1250" b="0" i="0">
                <a:solidFill>
                  <a:srgbClr val="D8DED2"/>
                </a:solidFill>
                <a:latin typeface="Archivo"/>
              </a:rPr>
              <a:t>built all three pages end to end from the resulting specs.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83480"/>
            <a:ext cx="8503920" cy="86868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A8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EF5A4"/>
                </a:solidFill>
                <a:latin typeface="Archivo"/>
              </a:rPr>
              <a:t>This deck: built with a skill that samples Taxfix’s own rebrand page directly for its palette, type, and layout rules — the same discipline applied everywhere else.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7E70"/>
                </a:solidFill>
                <a:latin typeface="Archivo Black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6893B"/>
                </a:solidFill>
                <a:latin typeface="Archivo Black"/>
              </a:rPr>
              <a:t>08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54618"/>
                </a:solidFill>
                <a:latin typeface="Archivo Black"/>
              </a:rPr>
              <a:t>One metric. One cheap test.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51760"/>
            <a:ext cx="4206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0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1635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459"/>
                </a:solidFill>
                <a:latin typeface="Archivo Black"/>
              </a:rPr>
              <a:t>NORTH 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27248"/>
            <a:ext cx="3749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154618"/>
                </a:solidFill>
                <a:latin typeface="Archivo Black"/>
              </a:rPr>
              <a:t>≥40%</a:t>
            </a:r>
            <a:r>
              <a:rPr sz="1300" b="0" i="0">
                <a:solidFill>
                  <a:srgbClr val="6B6459"/>
                </a:solidFill>
                <a:latin typeface="Archivo"/>
              </a:rPr>
              <a:t> margin/case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75887"/>
            <a:ext cx="3749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459"/>
                </a:solidFill>
                <a:latin typeface="Archivo"/>
              </a:rPr>
              <a:t>Once real advisor hours replace the 5-hour placeholder.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651760"/>
            <a:ext cx="4206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0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281635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459"/>
                </a:solidFill>
                <a:latin typeface="Archivo Black"/>
              </a:rPr>
              <a:t>GUARDRAIL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127248"/>
            <a:ext cx="3749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154618"/>
                </a:solidFill>
                <a:latin typeface="Archivo Black"/>
              </a:rPr>
              <a:t>~2.7x</a:t>
            </a:r>
            <a:r>
              <a:rPr sz="1300" b="0" i="0">
                <a:solidFill>
                  <a:srgbClr val="6B6459"/>
                </a:solidFill>
                <a:latin typeface="Archivo"/>
              </a:rPr>
              <a:t> LTV:CAC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675887"/>
            <a:ext cx="3749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459"/>
                </a:solidFill>
                <a:latin typeface="Archivo"/>
              </a:rPr>
              <a:t>Against a 3x bar, at a placeholder €90 CAC. An open risk, stated, not hidden.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617720"/>
            <a:ext cx="36576" cy="502920"/>
          </a:xfrm>
          <a:prstGeom prst="rect">
            <a:avLst/>
          </a:prstGeom>
          <a:solidFill>
            <a:srgbClr val="F8A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4618"/>
                </a:solidFill>
                <a:latin typeface="Archivo"/>
              </a:rPr>
              <a:t>Next: ship the landing page pre-launch and read real conversion and lead cost — before spending a euro on paid acquisition.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54618"/>
                </a:solidFill>
                <a:latin typeface="Archivo Black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315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ADE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154618"/>
                </a:solidFill>
                <a:latin typeface="Archivo Black"/>
              </a:rPr>
              <a:t>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77724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i="0">
                <a:solidFill>
                  <a:srgbClr val="FFFFFF"/>
                </a:solidFill>
                <a:latin typeface="Archivo Black"/>
              </a:rPr>
              <a:t>Small enough that expert-matching doesn’t need millions of cases. Real enough that the exclusion is a quote off Taxfix’s own product, not an assumption.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577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ADEE68"/>
                </a:solidFill>
                <a:latin typeface="Archivo"/>
              </a:rPr>
              <a:t>github.com/hfritz/taxfix-case-study-prototype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5486400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A8A8"/>
                </a:solidFill>
                <a:latin typeface="Archivo"/>
              </a:rPr>
              <a:t>Built by Helmut Fritz using AI tools · 2026. Unofficial case-study prototype — not affiliated with or endorsed by Taxfix.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F8F2"/>
                </a:solidFill>
                <a:latin typeface="Archivo Black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